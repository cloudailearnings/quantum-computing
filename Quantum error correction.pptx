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9BAF-DD49-4E6C-E9F3-394ABA655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6E47F-5404-7621-7BAD-8500C2395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14FE9-601D-C039-B886-C297608C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0FD34-5B40-A510-559A-D22E1E32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46ADA-A2F8-CB6B-792A-565A708C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5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797D-94AE-04F4-60DE-F059A403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8DCC-CF37-BFE5-979B-0C5605F97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EA4F5-F289-5505-ACEB-6DCBDAC1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1F95F-47AF-1335-322F-A5000FD5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C9197-1898-9BDB-4771-D4C09983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7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BD10-4C2E-59A0-B7B0-37A6F1F6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56EAE-218B-C658-1C35-D1C9DCBA0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1124A-4C70-FE3A-3E0C-912A18C9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352D1-3504-2883-0B9F-C133BF41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0E879-FEDA-7A95-7806-138936C0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96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357F-AF45-1FD7-BC40-C9EAFFBC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5933-3C34-395E-7CE7-A804E77E2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38A59-EDF6-B69C-3F04-03E3DC5FD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65A2A-DA78-D331-5368-43EC83BD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31515-FE5D-8DFA-62AD-1C95A1A5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AAF92-B7B2-E0F7-7373-1E31D037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95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149C-B18D-8242-B5B4-163EE17D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B96DF-1AC5-D9AB-7C26-51137C641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BC0E8-4093-AF1C-12EE-AAC4021DA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471E4-E660-DE6C-4DD4-A23927BEA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8CA70-0546-2945-5A7B-4B1D3AD19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399A6-8F59-DC34-80A9-6471D4D4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CFB35-A28F-D015-CE20-969B2B7C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357A7-9D5D-862B-9F86-1E6E3472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61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AAAF-8106-8CE7-ABC4-9B6A4360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0F293-C440-D756-8D88-B21546F1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E8175-F0DB-8B18-40B5-7A1BB439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BDE76-E253-4D0B-7506-7BD24982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24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E0DFF-EF18-1FA5-D846-352997DA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026D6-8FE3-CA80-A92A-419E1E14B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AB2CF-8423-16AC-C8F2-F024947E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6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D1D9-63E5-F990-B5AF-3F3CDF97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C63FA-F970-469B-3B0F-815351A66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74A04-DF80-7473-1A24-07575C26C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3CF7A-4D84-7D3F-51A6-CF47B390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F0A37-10B0-E29A-7CAA-2DFD0458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CECFB-1C5A-BB2F-78D5-D6120EF3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734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9FF8-BDBF-0B9F-03B5-58095F5F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09E9C-0619-9C9D-3222-586BBD64E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A2AF1-2D38-21E8-4870-3DCD11F20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C0472-F73C-726A-28E3-51DABA93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8942B-86C0-A1B8-D14F-27475BF7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E4A9C-42FA-A36D-A34D-38CB6504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14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F27C-74B6-81C1-CB7E-16F44B24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A0DDA-B16C-B097-A1EB-1264F9F28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88FD-93F9-50DC-8FDD-A0721A697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3F5A-9085-9E52-66B3-36B26AE7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F6A83-2041-F077-F9CE-8F427141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41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F6634-E211-CCA4-DC18-BCCFDC08D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427E8-A9E1-667C-5A93-BCDCB4DC1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407A1-40E3-F4F7-697C-AC6C6BEF3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14DD-447D-03BC-9E8D-C7251246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F3399-DAAA-62F4-C916-680468EE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6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9E8B9-7D87-AEA3-E9B8-A9843C80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6AEC9-2973-ADFE-8EBB-7C38C9D43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A6A1-4B62-7BC0-81FA-2730B336F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F1372-6A4B-4327-A1DE-8745AC6D4E9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1B61B-C2B6-6445-9027-18B8D4461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9C01-2DC9-4C33-FB41-C0F36A1BA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A74C9-1D20-43A8-ABDC-41CBB2410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5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71DF-FD1B-8722-8C57-E9141B2D4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Quantum error correction</a:t>
            </a:r>
          </a:p>
        </p:txBody>
      </p:sp>
    </p:spTree>
    <p:extLst>
      <p:ext uri="{BB962C8B-B14F-4D97-AF65-F5344CB8AC3E}">
        <p14:creationId xmlns:p14="http://schemas.microsoft.com/office/powerpoint/2010/main" val="32123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C8DAC9-BF6D-07AC-32CE-808660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1997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70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9170-CCE0-DBA1-3CE2-1820E019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745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decoherence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CC518-2AF8-A7BB-C721-02637CB8F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3331"/>
            <a:ext cx="11835245" cy="4351338"/>
          </a:xfrm>
        </p:spPr>
        <p:txBody>
          <a:bodyPr/>
          <a:lstStyle/>
          <a:p>
            <a:r>
              <a:rPr lang="en-US" dirty="0"/>
              <a:t>In quantum computing, the basic unit is the</a:t>
            </a:r>
            <a:r>
              <a:rPr lang="en-US" b="1" dirty="0"/>
              <a:t> qubit</a:t>
            </a:r>
            <a:r>
              <a:rPr lang="en-US" dirty="0"/>
              <a:t>. Regardless of the physical medium used (superconducting circuits, trapped ions, neutral atoms, photons, etc.), the qubit remains extremely fragile. </a:t>
            </a:r>
          </a:p>
          <a:p>
            <a:r>
              <a:rPr lang="en-US" dirty="0"/>
              <a:t>It is very sensitive to its environment: even the slightest interaction with it causes a rapid loss of quantum </a:t>
            </a:r>
            <a:r>
              <a:rPr lang="en-US" b="1" dirty="0"/>
              <a:t>coherence</a:t>
            </a:r>
            <a:r>
              <a:rPr lang="en-US" dirty="0"/>
              <a:t>.</a:t>
            </a:r>
          </a:p>
          <a:p>
            <a:r>
              <a:rPr lang="en-US" dirty="0"/>
              <a:t>This is the phenomenon of </a:t>
            </a:r>
            <a:r>
              <a:rPr lang="en-US" b="1" dirty="0"/>
              <a:t>decoherence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To perform useful quantum computations on a large scale, it is therefore essential to detect and correct these errors in real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59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E4D1-0F85-0B58-AB2A-CED130CB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Why Decoherence Happens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07CE3-B80F-1902-C51D-B03FE967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4" y="1347643"/>
            <a:ext cx="10515600" cy="4351338"/>
          </a:xfrm>
        </p:spPr>
        <p:txBody>
          <a:bodyPr/>
          <a:lstStyle/>
          <a:p>
            <a:r>
              <a:rPr lang="en-US" dirty="0"/>
              <a:t>Quantum states are </a:t>
            </a:r>
            <a:r>
              <a:rPr lang="en-US" b="1" dirty="0"/>
              <a:t>fragile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a qubit interacts with anything outside (air molecules, photons, vibrations, temperature, noise), the environment “measures’’ the qubit accidentally.</a:t>
            </a:r>
          </a:p>
          <a:p>
            <a:r>
              <a:rPr lang="en-US" dirty="0"/>
              <a:t>This causes the off-diagonal elements of the density matrix to vanish.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32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AA04-DEEE-A8BD-5648-9703EA22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EFB25-5BF6-FB60-09DF-F1E654329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b="1" dirty="0"/>
                  <a:t>Density Matrix View (Mathematical Meaning)</a:t>
                </a:r>
              </a:p>
              <a:p>
                <a:r>
                  <a:rPr lang="en-IN" dirty="0"/>
                  <a:t>State of a qubit in superposition: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𝜌</m:t>
                    </m:r>
                    <m:r>
                      <a:rPr lang="en-IN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∣</m:t>
                              </m:r>
                              <m:r>
                                <a:rPr lang="ar-AE" i="1"/>
                                <m:t>𝛼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/>
                                    <m:t>∣</m:t>
                                  </m:r>
                                </m:e>
                                <m:sup>
                                  <m:r>
                                    <a:rPr lang="ar-AE"/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ar-AE" i="1"/>
                                <m:t>𝛼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 i="1"/>
                                    <m:t>𝛽</m:t>
                                  </m:r>
                                </m:e>
                                <m:sup>
                                  <m:r>
                                    <a:rPr lang="ar-AE"/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 i="1"/>
                                    <m:t>𝛼</m:t>
                                  </m:r>
                                </m:e>
                                <m:sup>
                                  <m:r>
                                    <a:rPr lang="ar-AE"/>
                                    <m:t>∗</m:t>
                                  </m:r>
                                </m:sup>
                              </m:sSup>
                              <m:r>
                                <a:rPr lang="ar-AE" i="1"/>
                                <m:t>𝛽</m:t>
                              </m:r>
                            </m:e>
                            <m:e>
                              <m:r>
                                <a:rPr lang="ar-AE"/>
                                <m:t>∣</m:t>
                              </m:r>
                              <m:r>
                                <a:rPr lang="ar-AE" i="1"/>
                                <m:t>𝛽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/>
                                    <m:t>∣</m:t>
                                  </m:r>
                                </m:e>
                                <m:sup>
                                  <m:r>
                                    <a:rPr lang="ar-AE"/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The </a:t>
                </a:r>
                <a:r>
                  <a:rPr lang="en-IN" b="1" dirty="0"/>
                  <a:t>off-diagonal elements</a:t>
                </a:r>
                <a:r>
                  <a:rPr lang="en-IN" dirty="0"/>
                  <a:t> (coherences):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𝛼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𝛽</m:t>
                        </m:r>
                      </m:e>
                      <m:sup>
                        <m:r>
                          <a:rPr lang="ar-AE"/>
                          <m:t>∗</m:t>
                        </m:r>
                      </m:sup>
                    </m:sSup>
                    <m:r>
                      <a:rPr lang="ar-AE"/>
                      <m:t>,</m:t>
                    </m:r>
                    <m:r>
                      <m:rPr>
                        <m:nor/>
                      </m:rPr>
                      <a:rPr lang="ar-AE" i="1"/>
                      <m:t>    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𝛼</m:t>
                        </m:r>
                      </m:e>
                      <m:sup>
                        <m:r>
                          <a:rPr lang="ar-AE"/>
                          <m:t>∗</m:t>
                        </m:r>
                      </m:sup>
                    </m:sSup>
                    <m:r>
                      <a:rPr lang="ar-AE" i="1"/>
                      <m:t>𝛽</m:t>
                    </m:r>
                  </m:oMath>
                </a14:m>
                <a:endParaRPr lang="ar-AE" b="0" dirty="0"/>
              </a:p>
              <a:p>
                <a:r>
                  <a:rPr lang="en-IN" dirty="0"/>
                  <a:t>represent superposition.</a:t>
                </a:r>
              </a:p>
              <a:p>
                <a:r>
                  <a:rPr lang="en-IN" dirty="0"/>
                  <a:t>Due to decoherence: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𝜌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/>
                      <m:t>→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∣</m:t>
                              </m:r>
                              <m:r>
                                <a:rPr lang="ar-AE" i="1"/>
                                <m:t>𝛼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/>
                                    <m:t>∣</m:t>
                                  </m:r>
                                </m:e>
                                <m:sup>
                                  <m:r>
                                    <a:rPr lang="ar-AE"/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∣</m:t>
                              </m:r>
                              <m:r>
                                <a:rPr lang="ar-AE" i="1"/>
                                <m:t>𝛽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/>
                                    <m:t>∣</m:t>
                                  </m:r>
                                </m:e>
                                <m:sup>
                                  <m:r>
                                    <a:rPr lang="ar-AE"/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This becomes a </a:t>
                </a:r>
                <a:r>
                  <a:rPr lang="en-IN" b="1" dirty="0"/>
                  <a:t>classical mixture</a:t>
                </a:r>
                <a:r>
                  <a:rPr lang="en-IN" dirty="0"/>
                  <a:t>, not a superposition.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EFB25-5BF6-FB60-09DF-F1E654329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96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89E58-0EAD-B615-8D89-82161167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Two Main Types of Decoherence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FD272-5F9C-C310-33FB-8084DDCE0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63180"/>
            <a:ext cx="10515600" cy="575973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1️⃣ T₁ – Relaxation (Energy Loss)</a:t>
            </a:r>
          </a:p>
          <a:p>
            <a:r>
              <a:rPr lang="en-US" dirty="0"/>
              <a:t>The qubit “relaxes” from </a:t>
            </a:r>
            <a:r>
              <a:rPr lang="en-US" b="1" dirty="0"/>
              <a:t>|1⟩ → |0⟩</a:t>
            </a:r>
            <a:r>
              <a:rPr lang="en-US" dirty="0"/>
              <a:t>.</a:t>
            </a:r>
          </a:p>
          <a:p>
            <a:r>
              <a:rPr lang="en-US" dirty="0"/>
              <a:t>Usually caused by:</a:t>
            </a:r>
          </a:p>
          <a:p>
            <a:r>
              <a:rPr lang="en-US" dirty="0"/>
              <a:t>photon emission</a:t>
            </a:r>
          </a:p>
          <a:p>
            <a:r>
              <a:rPr lang="en-US" dirty="0"/>
              <a:t>thermal noise</a:t>
            </a:r>
          </a:p>
          <a:p>
            <a:r>
              <a:rPr lang="en-US" dirty="0"/>
              <a:t>vibration</a:t>
            </a:r>
          </a:p>
          <a:p>
            <a:r>
              <a:rPr lang="en-US" dirty="0"/>
              <a:t>This destroys stored energy.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2️⃣ T₂ – Dephasing (Loss of Phase Information)</a:t>
            </a:r>
          </a:p>
          <a:p>
            <a:r>
              <a:rPr lang="en-US" dirty="0"/>
              <a:t>The relative phase between |0⟩ and |1⟩ gets scrambled.</a:t>
            </a:r>
          </a:p>
          <a:p>
            <a:r>
              <a:rPr lang="en-US" dirty="0"/>
              <a:t>Superposition loses its phase, so interference disappears.</a:t>
            </a:r>
          </a:p>
          <a:p>
            <a:r>
              <a:rPr lang="en-US" dirty="0"/>
              <a:t>Most common cause:</a:t>
            </a:r>
          </a:p>
          <a:p>
            <a:r>
              <a:rPr lang="en-US" dirty="0"/>
              <a:t>fluctuations in magnetic/electric field</a:t>
            </a:r>
          </a:p>
          <a:p>
            <a:r>
              <a:rPr lang="en-US" dirty="0"/>
              <a:t>crosstalk</a:t>
            </a:r>
          </a:p>
          <a:p>
            <a:r>
              <a:rPr lang="en-US" dirty="0"/>
              <a:t>imperfect isolation</a:t>
            </a:r>
          </a:p>
          <a:p>
            <a:r>
              <a:rPr lang="en-US" dirty="0"/>
              <a:t>❗ Even if the qubit stays in |0⟩ or |1⟩, its </a:t>
            </a:r>
            <a:r>
              <a:rPr lang="en-US" b="1" dirty="0"/>
              <a:t>phase disappears</a:t>
            </a:r>
            <a:r>
              <a:rPr lang="en-US" dirty="0"/>
              <a:t>, and the quantum advantage is gone.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91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339D7-A01E-67B2-C7F2-D0526B76D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Start with a superposition state: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∣</m:t>
                        </m:r>
                        <m:r>
                          <a:rPr lang="ar-AE" i="1"/>
                          <m:t>𝜓</m:t>
                        </m:r>
                      </m:e>
                    </m:d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ar-AE" i="1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/>
                                  <m:t>∣</m:t>
                                </m:r>
                                <m:r>
                                  <a:rPr lang="ar-AE"/>
                                  <m:t>0</m:t>
                                </m:r>
                              </m:e>
                            </m:d>
                            <m:r>
                              <a:rPr lang="ar-AE"/>
                              <m:t>+∣</m:t>
                            </m:r>
                            <m:r>
                              <a:rPr lang="ar-AE"/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ar-AE" i="1"/>
                            </m:ctrlPr>
                          </m:radPr>
                          <m:deg/>
                          <m:e>
                            <m:r>
                              <a:rPr lang="ar-AE"/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If perfectly coherent, applying Hadamard again gives </a:t>
                </a:r>
                <a:r>
                  <a:rPr lang="en-IN" b="1" dirty="0"/>
                  <a:t>|0⟩</a:t>
                </a:r>
                <a:r>
                  <a:rPr lang="en-IN" dirty="0"/>
                  <a:t> with 100% probability.</a:t>
                </a:r>
              </a:p>
              <a:p>
                <a:r>
                  <a:rPr lang="en-IN" dirty="0"/>
                  <a:t>But with decoherence (phase destroyed), H gives:</a:t>
                </a:r>
              </a:p>
              <a:p>
                <a:r>
                  <a:rPr lang="en-IN" dirty="0"/>
                  <a:t>50% → |0⟩</a:t>
                </a:r>
              </a:p>
              <a:p>
                <a:r>
                  <a:rPr lang="en-IN" dirty="0"/>
                  <a:t>50% → |1⟩</a:t>
                </a:r>
              </a:p>
              <a:p>
                <a:r>
                  <a:rPr lang="en-IN" dirty="0"/>
                  <a:t>Quantum interference disappears.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339D7-A01E-67B2-C7F2-D0526B76D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7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170D-CC64-BF44-8234-F376A66C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What Is Quantum Error Correction (QEC)?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187BC-6088-E11B-3ED7-CBF0EA4E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82" y="1441161"/>
            <a:ext cx="1190451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Quantum Error Correction is a technique that </a:t>
            </a:r>
            <a:r>
              <a:rPr lang="en-US" b="1" dirty="0"/>
              <a:t>protects fragile quantum states</a:t>
            </a:r>
            <a:r>
              <a:rPr lang="en-US" dirty="0"/>
              <a:t> from noise, decoherence, and operational errors — without ever measuring or destroying the qubit’s quantum information.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Because:</a:t>
            </a:r>
          </a:p>
          <a:p>
            <a:r>
              <a:rPr lang="en-US" dirty="0"/>
              <a:t>You </a:t>
            </a:r>
            <a:r>
              <a:rPr lang="en-US" b="1" dirty="0"/>
              <a:t>cannot copy a qubit</a:t>
            </a:r>
            <a:r>
              <a:rPr lang="en-US" dirty="0"/>
              <a:t> (No-Cloning Theorem).</a:t>
            </a:r>
          </a:p>
          <a:p>
            <a:r>
              <a:rPr lang="en-US" dirty="0"/>
              <a:t>You </a:t>
            </a:r>
            <a:r>
              <a:rPr lang="en-US" b="1" dirty="0"/>
              <a:t>cannot directly measure a qubit</a:t>
            </a:r>
            <a:r>
              <a:rPr lang="en-US" dirty="0"/>
              <a:t> without collapsing it.</a:t>
            </a:r>
          </a:p>
          <a:p>
            <a:r>
              <a:rPr lang="en-US" dirty="0"/>
              <a:t>Qubits decay (T₁), lose phase (T₂), and gates introduce errors.</a:t>
            </a:r>
          </a:p>
          <a:p>
            <a:r>
              <a:rPr lang="en-US" dirty="0"/>
              <a:t>So QEC spreads the information of </a:t>
            </a:r>
            <a:r>
              <a:rPr lang="en-US" b="1" dirty="0"/>
              <a:t>1 logical qubit</a:t>
            </a:r>
            <a:r>
              <a:rPr lang="en-US" dirty="0"/>
              <a:t> across </a:t>
            </a:r>
            <a:r>
              <a:rPr lang="en-US" b="1" dirty="0"/>
              <a:t>many physical qubits</a:t>
            </a:r>
            <a:r>
              <a:rPr lang="en-US" dirty="0"/>
              <a:t>, and uses </a:t>
            </a:r>
            <a:r>
              <a:rPr lang="en-US" b="1" dirty="0"/>
              <a:t>syndrome measurements</a:t>
            </a:r>
            <a:r>
              <a:rPr lang="en-US" dirty="0"/>
              <a:t> to detect and correct errors </a:t>
            </a:r>
            <a:r>
              <a:rPr lang="en-US" i="1" dirty="0"/>
              <a:t>without reading the actual state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7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00EDF-86F4-A403-1C8A-7EFFE95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464415"/>
            <a:ext cx="10515600" cy="63935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Why Do We Need QEC?</a:t>
            </a:r>
          </a:p>
          <a:p>
            <a:r>
              <a:rPr lang="en-IN" dirty="0"/>
              <a:t>Every quantum computer has:</a:t>
            </a:r>
          </a:p>
          <a:p>
            <a:r>
              <a:rPr lang="en-IN" b="1" dirty="0"/>
              <a:t>Decoherence</a:t>
            </a:r>
            <a:endParaRPr lang="en-IN" dirty="0"/>
          </a:p>
          <a:p>
            <a:r>
              <a:rPr lang="en-IN" b="1" dirty="0"/>
              <a:t>Gate noise</a:t>
            </a:r>
            <a:endParaRPr lang="en-IN" dirty="0"/>
          </a:p>
          <a:p>
            <a:r>
              <a:rPr lang="en-IN" b="1" dirty="0"/>
              <a:t>Readout errors</a:t>
            </a:r>
            <a:endParaRPr lang="en-IN" dirty="0"/>
          </a:p>
          <a:p>
            <a:r>
              <a:rPr lang="en-IN" b="1" dirty="0"/>
              <a:t>Crosstalk</a:t>
            </a:r>
            <a:endParaRPr lang="en-IN" dirty="0"/>
          </a:p>
          <a:p>
            <a:r>
              <a:rPr lang="en-IN" b="1" dirty="0"/>
              <a:t>Thermal relaxation</a:t>
            </a:r>
            <a:endParaRPr lang="en-IN" dirty="0"/>
          </a:p>
          <a:p>
            <a:r>
              <a:rPr lang="en-IN" b="1" dirty="0"/>
              <a:t>Dephasing</a:t>
            </a: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Without QEC:</a:t>
            </a:r>
          </a:p>
          <a:p>
            <a:r>
              <a:rPr lang="en-IN" dirty="0"/>
              <a:t>❗ Quantum circuits must be extremely short</a:t>
            </a:r>
            <a:br>
              <a:rPr lang="en-IN" dirty="0"/>
            </a:br>
            <a:r>
              <a:rPr lang="en-IN" dirty="0"/>
              <a:t>❗ Deep algorithms (like Shor, Grover, QML) become impossible</a:t>
            </a:r>
            <a:br>
              <a:rPr lang="en-IN" dirty="0"/>
            </a:br>
            <a:r>
              <a:rPr lang="en-IN" dirty="0"/>
              <a:t>❗ Entanglement becomes unstable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With QEC:</a:t>
            </a:r>
          </a:p>
          <a:p>
            <a:r>
              <a:rPr lang="en-IN" dirty="0"/>
              <a:t>✔ Long computations possible</a:t>
            </a:r>
            <a:br>
              <a:rPr lang="en-IN" dirty="0"/>
            </a:br>
            <a:r>
              <a:rPr lang="en-IN" dirty="0"/>
              <a:t>✔ Logical qubits survive seconds/minutes (vs microseconds)</a:t>
            </a:r>
            <a:br>
              <a:rPr lang="en-IN" dirty="0"/>
            </a:br>
            <a:r>
              <a:rPr lang="en-IN" dirty="0"/>
              <a:t>✔ Fault-tolerant quantum computing becomes achievable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59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C8EE-0E26-B50A-817C-EF2FC903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54581"/>
          </a:xfrm>
        </p:spPr>
        <p:txBody>
          <a:bodyPr/>
          <a:lstStyle/>
          <a:p>
            <a:r>
              <a:rPr lang="en-IN" dirty="0"/>
              <a:t>Error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E8E65-C560-8CE6-6F28-9CD8C6E49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Classical: we correct by </a:t>
            </a:r>
            <a:r>
              <a:rPr lang="en-US" b="1" dirty="0"/>
              <a:t>looking + copying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Quantum: according to the principles of quantum mechanics</a:t>
            </a:r>
          </a:p>
          <a:p>
            <a:pPr fontAlgn="base"/>
            <a:r>
              <a:rPr lang="en-US" dirty="0"/>
              <a:t>looking (</a:t>
            </a:r>
            <a:r>
              <a:rPr lang="en-US" b="1" dirty="0" err="1"/>
              <a:t>mesure</a:t>
            </a:r>
            <a:r>
              <a:rPr lang="en-US" dirty="0"/>
              <a:t>) = collapse of wave function → prohibited.</a:t>
            </a:r>
          </a:p>
          <a:p>
            <a:pPr fontAlgn="base"/>
            <a:r>
              <a:rPr lang="en-US" dirty="0"/>
              <a:t>copying = </a:t>
            </a:r>
            <a:r>
              <a:rPr lang="en-US" b="1" dirty="0"/>
              <a:t>no-cloning theorem</a:t>
            </a:r>
            <a:r>
              <a:rPr lang="en-US" dirty="0"/>
              <a:t> → prohibited.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25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CE24-CBCC-F88D-06AB-D4D4A415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31273"/>
          </a:xfrm>
        </p:spPr>
        <p:txBody>
          <a:bodyPr/>
          <a:lstStyle/>
          <a:p>
            <a:r>
              <a:rPr lang="en-IN" b="1" dirty="0"/>
              <a:t>Core Concepts of Quantum Error Correction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D9CBDE-9729-F076-C28F-7C19A2A1A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5136" y="1420380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Quantum Error Correction rests on three pillars: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IN" b="1" dirty="0"/>
                  <a:t>1️⃣ Encoding (Redundancy without copying)</a:t>
                </a:r>
              </a:p>
              <a:p>
                <a:r>
                  <a:rPr lang="en-IN" dirty="0"/>
                  <a:t>You encode </a:t>
                </a:r>
                <a:r>
                  <a:rPr lang="en-IN" b="1" dirty="0"/>
                  <a:t>one logical qubit</a:t>
                </a:r>
                <a:r>
                  <a:rPr lang="en-IN" dirty="0"/>
                  <a:t> into </a:t>
                </a:r>
                <a:r>
                  <a:rPr lang="en-IN" b="1" dirty="0"/>
                  <a:t>multiple physical qubits</a:t>
                </a:r>
                <a:r>
                  <a:rPr lang="en-IN" dirty="0"/>
                  <a:t> using entanglement.</a:t>
                </a:r>
              </a:p>
              <a:p>
                <a:r>
                  <a:rPr lang="en-IN" dirty="0"/>
                  <a:t>Example: 3-qubit bit-flip code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/>
                                </m:ctrlPr>
                              </m:dPr>
                              <m:e>
                                <m:d>
                                  <m:dPr>
                                    <m:begChr m:val=""/>
                                    <m:endChr m:val="⟩"/>
                                    <m:ctrlPr>
                                      <a:rPr lang="ar-AE"/>
                                    </m:ctrlPr>
                                  </m:dPr>
                                  <m:e>
                                    <m:r>
                                      <a:rPr lang="ar-AE"/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lang="ar-AE" i="1"/>
                                        </m:ctrlPr>
                                      </m:sSubPr>
                                      <m:e>
                                        <m:r>
                                          <a:rPr lang="ar-AE"/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ar-AE" i="1"/>
                                          <m:t>𝐿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ar-AE"/>
                                  <m:t>=∣</m:t>
                                </m:r>
                                <m:r>
                                  <a:rPr lang="ar-AE"/>
                                  <m:t>000</m:t>
                                </m:r>
                              </m:e>
                            </m:d>
                            <m:r>
                              <a:rPr lang="ar-AE"/>
                              <m:t>, ∣</m:t>
                            </m:r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/>
                                  <m:t>1</m:t>
                                </m:r>
                              </m:e>
                              <m:sub>
                                <m:r>
                                  <a:rPr lang="ar-AE" i="1"/>
                                  <m:t>𝐿</m:t>
                                </m:r>
                              </m:sub>
                            </m:sSub>
                          </m:e>
                        </m:d>
                        <m:r>
                          <a:rPr lang="ar-AE"/>
                          <m:t>=∣</m:t>
                        </m:r>
                        <m:r>
                          <a:rPr lang="ar-AE"/>
                          <m:t>111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Example: Shor’s 9-qubit code</a:t>
                </a:r>
              </a:p>
              <a:p>
                <a:r>
                  <a:rPr lang="en-IN" dirty="0"/>
                  <a:t>protects against </a:t>
                </a:r>
                <a:r>
                  <a:rPr lang="en-IN" b="1" dirty="0"/>
                  <a:t>bit-flip + phase-flip</a:t>
                </a: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D9CBDE-9729-F076-C28F-7C19A2A1A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136" y="1420380"/>
                <a:ext cx="10515600" cy="4351338"/>
              </a:xfrm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31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524B-45CD-50A1-F808-CE59CAA8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11681"/>
          </a:xfrm>
        </p:spPr>
        <p:txBody>
          <a:bodyPr>
            <a:normAutofit fontScale="90000"/>
          </a:bodyPr>
          <a:lstStyle/>
          <a:p>
            <a:r>
              <a:rPr lang="en-IN" dirty="0"/>
              <a:t>QEC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51144-FF4E-86EF-F1D8-34B6F22CD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" y="835961"/>
            <a:ext cx="10515600" cy="5575229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b="1" dirty="0"/>
              <a:t>2️⃣ Syndrome Measurement (Detect errors without collapsing)</a:t>
            </a:r>
          </a:p>
          <a:p>
            <a:r>
              <a:rPr lang="en-IN" dirty="0"/>
              <a:t>We measure </a:t>
            </a:r>
            <a:r>
              <a:rPr lang="en-IN" b="1" dirty="0"/>
              <a:t>ancilla (helper) qubits</a:t>
            </a:r>
            <a:r>
              <a:rPr lang="en-IN" dirty="0"/>
              <a:t> in such a way that:</a:t>
            </a:r>
          </a:p>
          <a:p>
            <a:r>
              <a:rPr lang="en-IN" dirty="0"/>
              <a:t>The </a:t>
            </a:r>
            <a:r>
              <a:rPr lang="en-IN" b="1" dirty="0"/>
              <a:t>error</a:t>
            </a:r>
            <a:r>
              <a:rPr lang="en-IN" dirty="0"/>
              <a:t> is detected</a:t>
            </a:r>
          </a:p>
          <a:p>
            <a:r>
              <a:rPr lang="en-IN" dirty="0"/>
              <a:t>The </a:t>
            </a:r>
            <a:r>
              <a:rPr lang="en-IN" b="1" dirty="0"/>
              <a:t>quantum state (superposition)</a:t>
            </a:r>
            <a:r>
              <a:rPr lang="en-IN" dirty="0"/>
              <a:t> is </a:t>
            </a:r>
            <a:r>
              <a:rPr lang="en-IN" i="1" dirty="0"/>
              <a:t>not</a:t>
            </a:r>
            <a:r>
              <a:rPr lang="en-IN" dirty="0"/>
              <a:t> measured</a:t>
            </a:r>
          </a:p>
          <a:p>
            <a:r>
              <a:rPr lang="en-IN" dirty="0"/>
              <a:t>Syndrome bits show </a:t>
            </a:r>
            <a:r>
              <a:rPr lang="en-IN" i="1" dirty="0"/>
              <a:t>which</a:t>
            </a:r>
            <a:r>
              <a:rPr lang="en-IN" dirty="0"/>
              <a:t> qubit is wrong, not </a:t>
            </a:r>
            <a:r>
              <a:rPr lang="en-IN" i="1" dirty="0"/>
              <a:t>what the state is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3️⃣ Recovery (Correct the error)</a:t>
            </a:r>
          </a:p>
          <a:p>
            <a:r>
              <a:rPr lang="en-IN" dirty="0"/>
              <a:t>Based on syndrome values, apply:</a:t>
            </a:r>
          </a:p>
          <a:p>
            <a:r>
              <a:rPr lang="en-IN" dirty="0"/>
              <a:t>X correction → fixes bit flip</a:t>
            </a:r>
          </a:p>
          <a:p>
            <a:r>
              <a:rPr lang="en-IN" dirty="0"/>
              <a:t>Z correction → fixes phase flip</a:t>
            </a:r>
          </a:p>
          <a:p>
            <a:r>
              <a:rPr lang="en-IN" dirty="0"/>
              <a:t>Y correction → bit + phase</a:t>
            </a:r>
          </a:p>
          <a:p>
            <a:r>
              <a:rPr lang="en-IN" dirty="0"/>
              <a:t>The logical state is restored.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843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51DD-A66E-2BAA-570E-F9758891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Quantum Errors Handled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D9207-C98C-111A-246D-AF0B2822B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609" y="1451552"/>
                <a:ext cx="10515600" cy="4351338"/>
              </a:xfrm>
            </p:spPr>
            <p:txBody>
              <a:bodyPr/>
              <a:lstStyle/>
              <a:p>
                <a:r>
                  <a:rPr lang="en-IN" dirty="0"/>
                  <a:t>A general single-qubit error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𝐸</m:t>
                    </m:r>
                    <m:r>
                      <a:rPr lang="en-IN"/>
                      <m:t>=</m:t>
                    </m:r>
                    <m:r>
                      <a:rPr lang="en-IN" i="1"/>
                      <m:t>𝑎𝐼</m:t>
                    </m:r>
                    <m:r>
                      <a:rPr lang="en-IN"/>
                      <m:t>+</m:t>
                    </m:r>
                    <m:r>
                      <a:rPr lang="en-IN" i="1"/>
                      <m:t>𝑏𝑋</m:t>
                    </m:r>
                    <m:r>
                      <a:rPr lang="en-IN"/>
                      <m:t>+</m:t>
                    </m:r>
                    <m:r>
                      <a:rPr lang="en-IN" i="1"/>
                      <m:t>𝑐𝑍</m:t>
                    </m:r>
                    <m:r>
                      <a:rPr lang="en-IN"/>
                      <m:t>+</m:t>
                    </m:r>
                    <m:r>
                      <a:rPr lang="en-IN" i="1"/>
                      <m:t>𝑑𝑌</m:t>
                    </m:r>
                  </m:oMath>
                </a14:m>
                <a:endParaRPr lang="en-IN" dirty="0"/>
              </a:p>
              <a:p>
                <a:r>
                  <a:rPr lang="en-IN" dirty="0"/>
                  <a:t>QEC corrects:</a:t>
                </a:r>
              </a:p>
              <a:p>
                <a:r>
                  <a:rPr lang="en-IN" b="1" dirty="0"/>
                  <a:t>X (bit-flip)</a:t>
                </a:r>
                <a:endParaRPr lang="en-IN" dirty="0"/>
              </a:p>
              <a:p>
                <a:r>
                  <a:rPr lang="en-IN" b="1" dirty="0"/>
                  <a:t>Z (phase-flip)</a:t>
                </a:r>
                <a:endParaRPr lang="en-IN" dirty="0"/>
              </a:p>
              <a:p>
                <a:r>
                  <a:rPr lang="en-IN" b="1" dirty="0"/>
                  <a:t>Y (both)</a:t>
                </a:r>
                <a:endParaRPr lang="en-IN" dirty="0"/>
              </a:p>
              <a:p>
                <a:r>
                  <a:rPr lang="en-IN" b="1" dirty="0"/>
                  <a:t>Arbitrary errors</a:t>
                </a:r>
                <a:r>
                  <a:rPr lang="en-IN" dirty="0"/>
                  <a:t> (through linearity)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D9207-C98C-111A-246D-AF0B2822B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609" y="1451552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49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B2C0-5A2E-F36B-C057-0EF7175D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744"/>
            <a:ext cx="10515600" cy="86100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🏗️ Most Important QEC Codes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BC730-52C7-37A5-2140-A7A5828B2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618" y="1253330"/>
                <a:ext cx="10515600" cy="5488925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1️⃣ 3-Qubit Bit-Flip Code</a:t>
                </a:r>
              </a:p>
              <a:p>
                <a:r>
                  <a:rPr lang="en-IN" dirty="0"/>
                  <a:t>Corrects </a:t>
                </a:r>
                <a:r>
                  <a:rPr lang="en-IN" b="1" dirty="0"/>
                  <a:t>X errors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Encoding: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/>
                                </m:ctrlPr>
                              </m:dPr>
                              <m:e>
                                <m:r>
                                  <a:rPr lang="ar-AE"/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𝜓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𝐿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/>
                              <m:t>=</m:t>
                            </m:r>
                            <m:r>
                              <a:rPr lang="ar-AE" i="1"/>
                              <m:t>𝛼</m:t>
                            </m:r>
                            <m:r>
                              <a:rPr lang="ar-AE"/>
                              <m:t>∣</m:t>
                            </m:r>
                            <m:r>
                              <a:rPr lang="ar-AE"/>
                              <m:t>000</m:t>
                            </m:r>
                          </m:e>
                        </m:d>
                        <m:r>
                          <a:rPr lang="ar-AE"/>
                          <m:t>+</m:t>
                        </m:r>
                        <m:r>
                          <a:rPr lang="ar-AE" i="1"/>
                          <m:t>𝛽</m:t>
                        </m:r>
                        <m:r>
                          <a:rPr lang="ar-AE"/>
                          <m:t>∣</m:t>
                        </m:r>
                        <m:r>
                          <a:rPr lang="ar-AE"/>
                          <m:t>111</m:t>
                        </m:r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ar-AE" b="1" dirty="0"/>
                  <a:t>2️⃣ 3-</a:t>
                </a:r>
                <a:r>
                  <a:rPr lang="en-IN" b="1" dirty="0"/>
                  <a:t>Qubit Phase-Flip Code</a:t>
                </a:r>
              </a:p>
              <a:p>
                <a:r>
                  <a:rPr lang="en-IN" dirty="0"/>
                  <a:t>Corrects </a:t>
                </a:r>
                <a:r>
                  <a:rPr lang="en-IN" b="1" dirty="0"/>
                  <a:t>Z errors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IN" b="1" dirty="0"/>
                  <a:t>3️⃣ Shor Code (9 qubits)</a:t>
                </a:r>
              </a:p>
              <a:p>
                <a:r>
                  <a:rPr lang="en-IN" dirty="0"/>
                  <a:t>Corrects both </a:t>
                </a:r>
                <a:r>
                  <a:rPr lang="en-IN" b="1" dirty="0"/>
                  <a:t>X and Z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IN" b="1" dirty="0"/>
                  <a:t>4️⃣ Steane Code (7 qubits)</a:t>
                </a:r>
              </a:p>
              <a:p>
                <a:r>
                  <a:rPr lang="en-IN" dirty="0"/>
                  <a:t>One of the most important codes in theory and practice.</a:t>
                </a:r>
              </a:p>
              <a:p>
                <a:pPr marL="0" indent="0">
                  <a:buNone/>
                </a:pPr>
                <a:r>
                  <a:rPr lang="en-IN" b="1" dirty="0"/>
                  <a:t>5️⃣ Surface Code (Leading real-world code)</a:t>
                </a:r>
              </a:p>
              <a:p>
                <a:r>
                  <a:rPr lang="en-IN" dirty="0"/>
                  <a:t>Used by Google, IBM, </a:t>
                </a:r>
                <a:r>
                  <a:rPr lang="en-IN" dirty="0" err="1"/>
                  <a:t>Quantinuum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Features:</a:t>
                </a:r>
              </a:p>
              <a:p>
                <a:r>
                  <a:rPr lang="en-IN" dirty="0"/>
                  <a:t>1 logical qubit = </a:t>
                </a:r>
                <a:r>
                  <a:rPr lang="en-IN" b="1" dirty="0"/>
                  <a:t>1,000–10,000 physical qubits</a:t>
                </a:r>
                <a:endParaRPr lang="en-IN" dirty="0"/>
              </a:p>
              <a:p>
                <a:r>
                  <a:rPr lang="en-IN" dirty="0"/>
                  <a:t>Very low error threshold</a:t>
                </a:r>
              </a:p>
              <a:p>
                <a:r>
                  <a:rPr lang="en-IN" dirty="0"/>
                  <a:t>Works on 2D lattice of nearest-</a:t>
                </a:r>
                <a:r>
                  <a:rPr lang="en-IN" dirty="0" err="1"/>
                  <a:t>neighbor</a:t>
                </a:r>
                <a:r>
                  <a:rPr lang="en-IN" dirty="0"/>
                  <a:t> qubits</a:t>
                </a:r>
              </a:p>
              <a:p>
                <a:r>
                  <a:rPr lang="en-IN" dirty="0"/>
                  <a:t>This is the code that will likely enable future large-scale quantum computers.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BC730-52C7-37A5-2140-A7A5828B2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618" y="1253330"/>
                <a:ext cx="10515600" cy="5488925"/>
              </a:xfrm>
              <a:blipFill>
                <a:blip r:embed="rId2"/>
                <a:stretch>
                  <a:fillRect l="-290" t="-1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206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5775-10E2-4442-CE09-23014036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b="1" dirty="0"/>
              <a:t>Example: Bit-Flip Code (Simple Demonstration)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85FA3-0552-7351-1529-37E2E484F5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04742"/>
                <a:ext cx="10515600" cy="573895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Encoding a logical qubit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/>
                                </m:ctrlPr>
                              </m:dPr>
                              <m:e>
                                <m:r>
                                  <a:rPr lang="ar-AE"/>
                                  <m:t>∣</m:t>
                                </m:r>
                                <m:r>
                                  <a:rPr lang="ar-AE" i="1"/>
                                  <m:t>𝜓</m:t>
                                </m:r>
                              </m:e>
                            </m:d>
                            <m:r>
                              <a:rPr lang="ar-AE"/>
                              <m:t>=</m:t>
                            </m:r>
                            <m:r>
                              <a:rPr lang="ar-AE" i="1"/>
                              <m:t>𝛼</m:t>
                            </m:r>
                            <m:r>
                              <a:rPr lang="ar-AE"/>
                              <m:t>∣</m:t>
                            </m:r>
                            <m:r>
                              <a:rPr lang="ar-AE"/>
                              <m:t>0</m:t>
                            </m:r>
                          </m:e>
                        </m:d>
                        <m:r>
                          <a:rPr lang="ar-AE"/>
                          <m:t>+</m:t>
                        </m:r>
                        <m:r>
                          <a:rPr lang="ar-AE" i="1"/>
                          <m:t>𝛽</m:t>
                        </m:r>
                        <m:r>
                          <a:rPr lang="ar-AE"/>
                          <m:t>∣</m:t>
                        </m:r>
                        <m:r>
                          <a:rPr lang="ar-AE"/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Convert to: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/>
                                </m:ctrlPr>
                              </m:dPr>
                              <m:e>
                                <m:r>
                                  <a:rPr lang="ar-AE"/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𝜓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𝐿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/>
                              <m:t>=</m:t>
                            </m:r>
                            <m:r>
                              <a:rPr lang="ar-AE" i="1"/>
                              <m:t>𝛼</m:t>
                            </m:r>
                            <m:r>
                              <a:rPr lang="ar-AE"/>
                              <m:t>∣</m:t>
                            </m:r>
                            <m:r>
                              <a:rPr lang="ar-AE"/>
                              <m:t>000</m:t>
                            </m:r>
                          </m:e>
                        </m:d>
                        <m:r>
                          <a:rPr lang="ar-AE"/>
                          <m:t>+</m:t>
                        </m:r>
                        <m:r>
                          <a:rPr lang="ar-AE" i="1"/>
                          <m:t>𝛽</m:t>
                        </m:r>
                        <m:r>
                          <a:rPr lang="ar-AE"/>
                          <m:t>∣</m:t>
                        </m:r>
                        <m:r>
                          <a:rPr lang="ar-AE"/>
                          <m:t>111</m:t>
                        </m:r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Error</a:t>
                </a:r>
              </a:p>
              <a:p>
                <a:r>
                  <a:rPr lang="en-IN" dirty="0"/>
                  <a:t>Suppose qubit 2 flips: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∣</m:t>
                        </m:r>
                        <m:r>
                          <a:rPr lang="ar-AE"/>
                          <m:t>000</m:t>
                        </m:r>
                      </m:e>
                    </m:d>
                    <m:r>
                      <a:rPr lang="ar-AE"/>
                      <m:t>→</m:t>
                    </m:r>
                    <m:r>
                      <a:rPr lang="ar-AE"/>
                      <m:t>010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b="1" dirty="0"/>
                  <a:t>Syndrome Check</a:t>
                </a:r>
              </a:p>
              <a:p>
                <a:r>
                  <a:rPr lang="en-IN" dirty="0"/>
                  <a:t>Measure stabilizers: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, 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IN" dirty="0"/>
                  <a:t>Syndrome result tells which qubit flipped.</a:t>
                </a:r>
              </a:p>
              <a:p>
                <a:pPr marL="0" indent="0">
                  <a:buNone/>
                </a:pPr>
                <a:r>
                  <a:rPr lang="en-IN" b="1" dirty="0"/>
                  <a:t>Recovery</a:t>
                </a:r>
              </a:p>
              <a:p>
                <a:r>
                  <a:rPr lang="en-IN" dirty="0"/>
                  <a:t>Apply X to correct.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85FA3-0552-7351-1529-37E2E484F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04742"/>
                <a:ext cx="10515600" cy="5738957"/>
              </a:xfrm>
              <a:blipFill>
                <a:blip r:embed="rId2"/>
                <a:stretch>
                  <a:fillRect l="-870" t="-2444" b="-2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86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911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Quantum error correction</vt:lpstr>
      <vt:lpstr>PowerPoint Presentation</vt:lpstr>
      <vt:lpstr>decoherence</vt:lpstr>
      <vt:lpstr>Why Decoherence Happens</vt:lpstr>
      <vt:lpstr>PowerPoint Presentation</vt:lpstr>
      <vt:lpstr>Two Main Types of Decoherence</vt:lpstr>
      <vt:lpstr>PowerPoint Presentation</vt:lpstr>
      <vt:lpstr>What Is Quantum Error Correction (QEC)? </vt:lpstr>
      <vt:lpstr>PowerPoint Presentation</vt:lpstr>
      <vt:lpstr>Error Correction</vt:lpstr>
      <vt:lpstr>Core Concepts of Quantum Error Correction</vt:lpstr>
      <vt:lpstr>QEC</vt:lpstr>
      <vt:lpstr>Types of Quantum Errors Handled</vt:lpstr>
      <vt:lpstr>🏗️ Most Important QEC Codes </vt:lpstr>
      <vt:lpstr>Example: Bit-Flip Code (Simple Demonstration)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6</cp:revision>
  <dcterms:created xsi:type="dcterms:W3CDTF">2025-12-09T05:57:12Z</dcterms:created>
  <dcterms:modified xsi:type="dcterms:W3CDTF">2025-12-09T09:32:21Z</dcterms:modified>
</cp:coreProperties>
</file>